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layfair Display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Oswa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fairDisplay-regular.fntdata"/><Relationship Id="rId21" Type="http://schemas.openxmlformats.org/officeDocument/2006/relationships/slide" Target="slides/slide16.xml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e1a8f51e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e1a8f51e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e1a8f51e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e1a8f51e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e1a8f51e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e1a8f51e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e1a8f51e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e1a8f51e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e1a8f51e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e1a8f51e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e1a8f51e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e1a8f51e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1a8f51e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e1a8f51e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e1a8f51e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e1a8f51e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e1a8f51e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e1a8f51e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e1a8f51e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e1a8f51e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e1a8f51e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e1a8f51e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e1a8f51e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e1a8f51e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e1a8f51e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e1a8f51e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e1a8f51e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e1a8f51e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e1a8f51e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e1a8f51e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NLP -Section 9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Self-Attention + Transformers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Self-Attention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Same idea as attention but instead of reflecting the attention on the output, it reflects on itself.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Creates context embeddings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/>
              <a:t>Lacks positionality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Self Attention - Matrices  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46900"/>
            <a:ext cx="77787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We create Q, K, V for each token. 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Q (query): </a:t>
            </a:r>
            <a:r>
              <a:rPr lang="en-GB"/>
              <a:t>A learned projection of the input embedding used to compute attention scores toward all other tokens.</a:t>
            </a:r>
            <a:endParaRPr/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K (key): </a:t>
            </a:r>
            <a:r>
              <a:rPr lang="en-GB"/>
              <a:t>A learned projection that interacts with queries so that the model can decide how much attention a token should receive.</a:t>
            </a:r>
            <a:endParaRPr/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V (value): </a:t>
            </a:r>
            <a:r>
              <a:rPr lang="en-GB"/>
              <a:t>A learned projection that carries the content to be aggregated based on the attention weights.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Q, K, and V have # of columns equal to the number of tokens each column representing a token (by small letter and index ex: q1, v3).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1200"/>
              </a:spcAft>
              <a:buSzPct val="100000"/>
              <a:buChar char="●"/>
            </a:pPr>
            <a:r>
              <a:rPr lang="en-GB"/>
              <a:t>Calculated through Wq*X, Wk*X, Wv*X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Self-Attention - Calculation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3275"/>
            <a:ext cx="4002900" cy="3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most straightforward method: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Calculate the score by q.k (the dot product) to get a single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Weight the values around zero by dividing by root d then applying softmax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Multiply by v to get the output context representation z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050" y="58100"/>
            <a:ext cx="4868026" cy="26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8298575" y="2193500"/>
            <a:ext cx="9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output context embeddings </a:t>
            </a:r>
            <a:endParaRPr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3825" y="2851000"/>
            <a:ext cx="3766485" cy="21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6775" y="1898050"/>
            <a:ext cx="2903375" cy="115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Positional Encoding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195075" y="1234075"/>
            <a:ext cx="5922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Positional Encoding can be learned (new architectures) or </a:t>
            </a:r>
            <a:r>
              <a:rPr lang="en-GB"/>
              <a:t>sinusoidal (original transformer.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Sinusoidal where: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1. pos is the position</a:t>
            </a:r>
            <a:br>
              <a:rPr lang="en-GB" sz="1600"/>
            </a:br>
            <a:r>
              <a:rPr lang="en-GB" sz="1600"/>
              <a:t>2. i is the embedding dimension</a:t>
            </a:r>
            <a:br>
              <a:rPr lang="en-GB" sz="1600"/>
            </a:br>
            <a:r>
              <a:rPr lang="en-GB" sz="1600"/>
              <a:t>3. d is the dimension of the embedding dimension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sin calculates the even dimensions and cosine calculates the odd dimensions.</a:t>
            </a:r>
            <a:endParaRPr sz="1600"/>
          </a:p>
        </p:txBody>
      </p:sp>
      <p:sp>
        <p:nvSpPr>
          <p:cNvPr id="89" name="Google Shape;89;p17"/>
          <p:cNvSpPr/>
          <p:nvPr/>
        </p:nvSpPr>
        <p:spPr>
          <a:xfrm>
            <a:off x="6003300" y="3811750"/>
            <a:ext cx="1091700" cy="36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6"/>
            <a:ext cx="9144000" cy="5140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</a:t>
            </a:r>
            <a:r>
              <a:rPr lang="en-GB"/>
              <a:t>Architecture</a:t>
            </a:r>
            <a:r>
              <a:rPr lang="en-GB"/>
              <a:t> - Positional Encoding Cont.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Learned:</a:t>
            </a:r>
            <a:endParaRPr/>
          </a:p>
          <a:p>
            <a:pPr indent="-191599" lvl="0" marL="179999" rtl="0" algn="l">
              <a:spcBef>
                <a:spcPts val="120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Each </a:t>
            </a:r>
            <a:r>
              <a:rPr lang="en-GB" sz="1600"/>
              <a:t>position gets a vector embedding.</a:t>
            </a:r>
            <a:br>
              <a:rPr lang="en-GB" sz="1600"/>
            </a:br>
            <a:r>
              <a:rPr lang="en-GB" sz="1600"/>
              <a:t>This vector embedding is learned during training such as any other weighted matrix </a:t>
            </a:r>
            <a:endParaRPr sz="1600"/>
          </a:p>
          <a:p>
            <a:pPr indent="-191599" lvl="0" marL="179999" rtl="0" algn="l"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pos 1 will have a constant embedding regardless of what is at the position.</a:t>
            </a:r>
            <a:endParaRPr sz="1600"/>
          </a:p>
          <a:p>
            <a:pPr indent="-191599" lvl="0" marL="179999" rtl="0" algn="l">
              <a:spcBef>
                <a:spcPts val="1000"/>
              </a:spcBef>
              <a:spcAft>
                <a:spcPts val="1200"/>
              </a:spcAft>
              <a:buSzPts val="1600"/>
              <a:buChar char="❖"/>
            </a:pPr>
            <a:r>
              <a:rPr lang="en-GB" sz="1600"/>
              <a:t>This is simpler and makes the model not constrained to sinusoidal representation.</a:t>
            </a:r>
            <a:endParaRPr sz="1600"/>
          </a:p>
        </p:txBody>
      </p:sp>
      <p:sp>
        <p:nvSpPr>
          <p:cNvPr id="104" name="Google Shape;104;p19"/>
          <p:cNvSpPr/>
          <p:nvPr/>
        </p:nvSpPr>
        <p:spPr>
          <a:xfrm>
            <a:off x="6003300" y="3811750"/>
            <a:ext cx="1091700" cy="36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Multihead Attention 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25352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Instead of relying on one attention head, calculate the attention multiple time and concatenate the results.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Return to the original dimension by processing through the feed forward layer.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6070125" y="3126625"/>
            <a:ext cx="1091700" cy="57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9250" y="2774775"/>
            <a:ext cx="4039500" cy="21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Layer Normalizaiton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x − μ(x)</a:t>
            </a:r>
            <a:br>
              <a:rPr lang="en-GB"/>
            </a:br>
            <a:r>
              <a:rPr lang="en-GB"/>
              <a:t>______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σ(x)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Helps normalize the outputs of the multihead attention layer.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/>
          <p:nvPr/>
        </p:nvSpPr>
        <p:spPr>
          <a:xfrm>
            <a:off x="6076600" y="2848000"/>
            <a:ext cx="1108500" cy="324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Feed Forward NN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Feed forward NN introduces the regular NN linear layers with activation functions.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/>
              <a:t>Preserves</a:t>
            </a:r>
            <a:r>
              <a:rPr lang="en-GB"/>
              <a:t> the original input shape</a:t>
            </a: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6063625" y="2374975"/>
            <a:ext cx="1108500" cy="369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Skip Connections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 in ResNets, add the output of the previous </a:t>
            </a:r>
            <a:r>
              <a:rPr lang="en-GB"/>
              <a:t>block to the next block.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/>
              <a:t>This helps smooth the loss and make training easier.</a:t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5973475" y="2172175"/>
            <a:ext cx="382500" cy="702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5973475" y="2946625"/>
            <a:ext cx="382500" cy="83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Encoder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outputs z can be calculated in parallel which speeds inference using GPUs.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can stack more than one encoder on top of each other to introduce complexity to the model and get better contextual embeddings.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5843875" y="1688575"/>
            <a:ext cx="1328400" cy="3220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Masked MHA </a:t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Masked multi-head attention is the same as </a:t>
            </a:r>
            <a:r>
              <a:rPr lang="en-GB"/>
              <a:t>regular attention but “masks” the attention of the outputs.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“I love dogs.” as the output “I” shouldn’t know that “love” comes after.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/>
              <a:t>Preserves the “auto regressive” trait.</a:t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7294750" y="3184925"/>
            <a:ext cx="1108500" cy="65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Cross Attention in MHA 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K = encoder output × W_K (Key projection matrix)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V = encoder output × W_V (Value projection matrix)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Q = decoder hidden × W_Q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Then it’s normal self-attention. This step combines both the encoder and decoder outputs. 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en-GB" sz="1300"/>
              <a:t>This can be stacked too, but K and V are constant from the same encoder output.</a:t>
            </a:r>
            <a:endParaRPr sz="1300"/>
          </a:p>
        </p:txBody>
      </p:sp>
      <p:sp>
        <p:nvSpPr>
          <p:cNvPr id="162" name="Google Shape;162;p26"/>
          <p:cNvSpPr/>
          <p:nvPr/>
        </p:nvSpPr>
        <p:spPr>
          <a:xfrm>
            <a:off x="7275300" y="2397638"/>
            <a:ext cx="1108500" cy="369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075" y="97050"/>
            <a:ext cx="3483150" cy="49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Architecture - FNN to Output 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output of MHA goes through a normal NN with linear layers and activation functions.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NN and the linear layer that follows reshape the output based on the task.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/>
              <a:t>The softmax function converts to probabilities in the one-hot encoding space to be able retrieve the sequence in each step.</a:t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7217000" y="97050"/>
            <a:ext cx="1108500" cy="186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11700" y="1234075"/>
            <a:ext cx="5499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Self-Attention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Transformer from scratch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