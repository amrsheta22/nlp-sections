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Robot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italic.fntdata"/><Relationship Id="rId6" Type="http://schemas.openxmlformats.org/officeDocument/2006/relationships/slide" Target="slides/slide1.xml"/><Relationship Id="rId18" Type="http://schemas.openxmlformats.org/officeDocument/2006/relationships/font" Target="fonts/Robo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9f66347731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9f66347731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9f66347731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9f66347731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9f66347731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9f66347731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9f66347731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9f66347731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9f66347731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9f66347731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9f66347731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9f66347731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9f66347731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9f66347731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9f66347731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9f66347731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9f66347731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9f66347731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9f66347731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9f66347731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NLP - </a:t>
            </a:r>
            <a:r>
              <a:rPr lang="en-GB"/>
              <a:t>Section</a:t>
            </a:r>
            <a:r>
              <a:rPr lang="en-GB"/>
              <a:t> 6</a:t>
            </a:r>
            <a:endParaRPr/>
          </a:p>
        </p:txBody>
      </p:sp>
      <p:sp>
        <p:nvSpPr>
          <p:cNvPr id="86" name="Google Shape;86;p13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Word Vectors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Embeddings</a:t>
            </a:r>
            <a:endParaRPr/>
          </a:p>
        </p:txBody>
      </p:sp>
      <p:sp>
        <p:nvSpPr>
          <p:cNvPr id="92" name="Google Shape;92;p1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An embedding is a numerical representation of a word.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The representation of the word doesn’t account for the context.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Words that occur in the same context </a:t>
            </a:r>
            <a:r>
              <a:rPr lang="en-GB"/>
              <a:t>have close numerical representation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Two types:</a:t>
            </a:r>
            <a:br>
              <a:rPr lang="en-GB"/>
            </a:br>
            <a:r>
              <a:rPr lang="en-GB"/>
              <a:t>A. Word Embeddings: no context</a:t>
            </a:r>
            <a:br>
              <a:rPr lang="en-GB"/>
            </a:br>
            <a:r>
              <a:rPr lang="en-GB"/>
              <a:t>B. Contextual Embeddings: with context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Word2Vec</a:t>
            </a:r>
            <a:endParaRPr/>
          </a:p>
        </p:txBody>
      </p:sp>
      <p:sp>
        <p:nvSpPr>
          <p:cNvPr id="98" name="Google Shape;98;p15"/>
          <p:cNvSpPr txBox="1"/>
          <p:nvPr>
            <p:ph idx="1" type="body"/>
          </p:nvPr>
        </p:nvSpPr>
        <p:spPr>
          <a:xfrm>
            <a:off x="311700" y="1229875"/>
            <a:ext cx="8637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There are various techniques for word embeddings, one of which is Word2Vec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Word2Vec is based on continuous skip-gram architecture where it predicts the context words given the current words.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9" name="Google Shape;9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3425" y="2345200"/>
            <a:ext cx="4596250" cy="162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80975" y="2451954"/>
            <a:ext cx="3938775" cy="140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Word2Vec Cont. </a:t>
            </a:r>
            <a:endParaRPr/>
          </a:p>
        </p:txBody>
      </p:sp>
      <p:sp>
        <p:nvSpPr>
          <p:cNvPr id="106" name="Google Shape;106;p16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7" name="Google Shape;10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229873"/>
            <a:ext cx="5396625" cy="113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9750" y="2820774"/>
            <a:ext cx="8106625" cy="164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7"/>
          <p:cNvSpPr txBox="1"/>
          <p:nvPr>
            <p:ph idx="1" type="body"/>
          </p:nvPr>
        </p:nvSpPr>
        <p:spPr>
          <a:xfrm>
            <a:off x="294250" y="4584125"/>
            <a:ext cx="77880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Source: https://lena-voita.github.io/nlp_course/word_embeddings.html</a:t>
            </a:r>
            <a:endParaRPr sz="1000"/>
          </a:p>
        </p:txBody>
      </p:sp>
      <p:pic>
        <p:nvPicPr>
          <p:cNvPr id="114" name="Google Shape;11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63550"/>
            <a:ext cx="4891375" cy="2322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45725" y="1045762"/>
            <a:ext cx="4851776" cy="235785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7"/>
          <p:cNvSpPr txBox="1"/>
          <p:nvPr/>
        </p:nvSpPr>
        <p:spPr>
          <a:xfrm>
            <a:off x="379625" y="279550"/>
            <a:ext cx="4848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Skip Gram </a:t>
            </a:r>
            <a:endParaRPr sz="3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Word2Vec Calculations         </a:t>
            </a:r>
            <a:r>
              <a:rPr lang="en-GB" sz="1666"/>
              <a:t>how to calculate this</a:t>
            </a:r>
            <a:endParaRPr sz="1666"/>
          </a:p>
        </p:txBody>
      </p:sp>
      <p:sp>
        <p:nvSpPr>
          <p:cNvPr id="122" name="Google Shape;122;p18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We use softmax function</a:t>
            </a:r>
            <a:endParaRPr/>
          </a:p>
        </p:txBody>
      </p:sp>
      <p:pic>
        <p:nvPicPr>
          <p:cNvPr id="123" name="Google Shape;12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3722" y="1322400"/>
            <a:ext cx="6147107" cy="124942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8"/>
          <p:cNvSpPr/>
          <p:nvPr/>
        </p:nvSpPr>
        <p:spPr>
          <a:xfrm>
            <a:off x="4513075" y="1322325"/>
            <a:ext cx="1590900" cy="539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5" name="Google Shape;125;p18"/>
          <p:cNvSpPr/>
          <p:nvPr/>
        </p:nvSpPr>
        <p:spPr>
          <a:xfrm>
            <a:off x="5262175" y="1003500"/>
            <a:ext cx="210600" cy="3189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6" name="Google Shape;126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87196" y="2715925"/>
            <a:ext cx="5245099" cy="132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9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Gradient Descent Training</a:t>
            </a:r>
            <a:endParaRPr/>
          </a:p>
        </p:txBody>
      </p:sp>
      <p:pic>
        <p:nvPicPr>
          <p:cNvPr id="132" name="Google Shape;132;p19"/>
          <p:cNvPicPr preferRelativeResize="0"/>
          <p:nvPr/>
        </p:nvPicPr>
        <p:blipFill rotWithShape="1">
          <a:blip r:embed="rId3">
            <a:alphaModFix/>
          </a:blip>
          <a:srcRect b="7209" l="0" r="0" t="0"/>
          <a:stretch/>
        </p:blipFill>
        <p:spPr>
          <a:xfrm>
            <a:off x="509275" y="1135950"/>
            <a:ext cx="7435601" cy="56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13450" y="1743750"/>
            <a:ext cx="4288499" cy="3134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0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Negative Sampling</a:t>
            </a:r>
            <a:endParaRPr/>
          </a:p>
        </p:txBody>
      </p:sp>
      <p:pic>
        <p:nvPicPr>
          <p:cNvPr id="139" name="Google Shape;13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600" y="1234400"/>
            <a:ext cx="7340400" cy="366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Negative Sampling Cont.</a:t>
            </a:r>
            <a:endParaRPr/>
          </a:p>
        </p:txBody>
      </p:sp>
      <p:sp>
        <p:nvSpPr>
          <p:cNvPr id="145" name="Google Shape;145;p2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6" name="Google Shape;14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229863"/>
            <a:ext cx="71247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2193089"/>
            <a:ext cx="8449800" cy="166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2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Training</a:t>
            </a:r>
            <a:endParaRPr/>
          </a:p>
        </p:txBody>
      </p:sp>
      <p:sp>
        <p:nvSpPr>
          <p:cNvPr id="153" name="Google Shape;153;p22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We initialize the matrices for the embeddings and the context.</a:t>
            </a:r>
            <a:br>
              <a:rPr lang="en-GB"/>
            </a:br>
            <a:r>
              <a:rPr lang="en-GB"/>
              <a:t>Both have the same (vocab_size, embedding_size)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We create a dataset with 0 and 1, 0 is not in context and 1 is in context of the center word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We then train the model using gradient descent to predict if the word is in context or not of the center, this spans the entire corpus.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3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Code</a:t>
            </a:r>
            <a:endParaRPr/>
          </a:p>
        </p:txBody>
      </p:sp>
      <p:sp>
        <p:nvSpPr>
          <p:cNvPr id="159" name="Google Shape;159;p23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Word2Vec Implementation from Scratch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